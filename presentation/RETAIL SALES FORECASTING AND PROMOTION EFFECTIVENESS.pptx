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wma" ContentType="audio/x-ms-wma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PT Serif" panose="020B0604020202020204" charset="0"/>
      <p:regular r:id="rId13"/>
    </p:embeddedFont>
    <p:embeddedFont>
      <p:font typeface="PT Serif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Roboto" panose="020B0604020202020204" charset="0"/>
      <p:regular r:id="rId19"/>
    </p:embeddedFont>
    <p:embeddedFont>
      <p:font typeface="Canva Sans" panose="020B0604020202020204" charset="0"/>
      <p:regular r:id="rId20"/>
    </p:embeddedFont>
    <p:embeddedFont>
      <p:font typeface="Roboto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ma"/><Relationship Id="rId1" Type="http://schemas.microsoft.com/office/2007/relationships/media" Target="../media/media1.wm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ma"/><Relationship Id="rId1" Type="http://schemas.microsoft.com/office/2007/relationships/media" Target="../media/media2.wma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00200" y="5095875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flipH="1" flipV="1">
            <a:off x="11673891" y="0"/>
            <a:ext cx="6614109" cy="10287000"/>
          </a:xfrm>
          <a:custGeom>
            <a:avLst/>
            <a:gdLst/>
            <a:ahLst/>
            <a:cxnLst/>
            <a:rect l="l" t="t" r="r" b="b"/>
            <a:pathLst>
              <a:path w="6614109" h="10287000">
                <a:moveTo>
                  <a:pt x="6614109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614109" y="0"/>
                </a:lnTo>
                <a:lnTo>
                  <a:pt x="6614109" y="10287000"/>
                </a:lnTo>
                <a:close/>
              </a:path>
            </a:pathLst>
          </a:custGeom>
          <a:blipFill>
            <a:blip r:embed="rId4"/>
            <a:stretch>
              <a:fillRect l="-99999" t="-14295" b="-14295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00200" y="3052790"/>
            <a:ext cx="9067800" cy="1313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1" spc="-15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RETAIL SALES FORECASTING AND PROMOTION EFFECTIVENESS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00200" y="8698865"/>
            <a:ext cx="4337222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159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TOOLS: PYTHON | PANDAS | SCIKIT-LEARN | JUPYTER NOTEBOOK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0200" y="7009100"/>
            <a:ext cx="4337222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Presented by:</a:t>
            </a:r>
          </a:p>
          <a:p>
            <a:pPr algn="l">
              <a:lnSpc>
                <a:spcPts val="4480"/>
              </a:lnSpc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Krishna 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0200" y="5526390"/>
            <a:ext cx="433722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ASSIGNMENT  3</a:t>
            </a:r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729200" y="9728200"/>
            <a:ext cx="406400" cy="40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63"/>
    </mc:Choice>
    <mc:Fallback>
      <p:transition spd="slow" advTm="44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69350" y="3298858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669350" y="1754301"/>
            <a:ext cx="9731335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0159" y="4253159"/>
            <a:ext cx="15787683" cy="334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Retail sales vary based on previous demand, price, promotions, products, and stores.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Accurate forecasting helps businesses improve inventory and sales planning.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This project focuses on weekly product-store sales forecasting.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Historical transaction, product, and store data were combined forward analysis.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A Random Forest model was developed and compared with a Naive Forecast.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A 13-week time-based holdout was used for evaluation.</a:t>
            </a: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729200" y="9728200"/>
            <a:ext cx="406400" cy="40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10"/>
    </mc:Choice>
    <mc:Fallback>
      <p:transition spd="slow" advTm="44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1050578" cy="10287000"/>
            <a:chOff x="0" y="0"/>
            <a:chExt cx="291044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10440" cy="2709333"/>
            </a:xfrm>
            <a:custGeom>
              <a:avLst/>
              <a:gdLst/>
              <a:ahLst/>
              <a:cxnLst/>
              <a:rect l="l" t="t" r="r" b="b"/>
              <a:pathLst>
                <a:path w="2910440" h="2709333">
                  <a:moveTo>
                    <a:pt x="0" y="0"/>
                  </a:moveTo>
                  <a:lnTo>
                    <a:pt x="2910440" y="0"/>
                  </a:lnTo>
                  <a:lnTo>
                    <a:pt x="29104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52400"/>
              <a:ext cx="2910440" cy="2861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2063408" y="3030625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2063408" y="1630384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52724" y="3774765"/>
            <a:ext cx="12399475" cy="446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Analyze the quality and characteristics of retail sales data.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Combine transaction, product, and store information.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Create a product-store level forecasting dataset.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 historical sales, price, and promotion features for forecasting.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Compare Naive Forecast and Random Forest models.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Evaluate performance using a 13-week time-based holdout.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Analyze the impact of price and promotions on demand.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Perform a price scenario analysis.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Provide business recommendations based on the results.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653205" y="8745855"/>
            <a:ext cx="606095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id="9" name="Freeform 9"/>
          <p:cNvSpPr/>
          <p:nvPr/>
        </p:nvSpPr>
        <p:spPr>
          <a:xfrm>
            <a:off x="12523857" y="2222139"/>
            <a:ext cx="760861" cy="760861"/>
          </a:xfrm>
          <a:custGeom>
            <a:avLst/>
            <a:gdLst/>
            <a:ahLst/>
            <a:cxnLst/>
            <a:rect l="l" t="t" r="r" b="b"/>
            <a:pathLst>
              <a:path w="760861" h="760861">
                <a:moveTo>
                  <a:pt x="0" y="0"/>
                </a:moveTo>
                <a:lnTo>
                  <a:pt x="760860" y="0"/>
                </a:lnTo>
                <a:lnTo>
                  <a:pt x="760860" y="760861"/>
                </a:lnTo>
                <a:lnTo>
                  <a:pt x="0" y="760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475523" y="4773492"/>
            <a:ext cx="857528" cy="760861"/>
          </a:xfrm>
          <a:custGeom>
            <a:avLst/>
            <a:gdLst/>
            <a:ahLst/>
            <a:cxnLst/>
            <a:rect l="l" t="t" r="r" b="b"/>
            <a:pathLst>
              <a:path w="857528" h="760861">
                <a:moveTo>
                  <a:pt x="0" y="0"/>
                </a:moveTo>
                <a:lnTo>
                  <a:pt x="857528" y="0"/>
                </a:lnTo>
                <a:lnTo>
                  <a:pt x="857528" y="760861"/>
                </a:lnTo>
                <a:lnTo>
                  <a:pt x="0" y="760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3274384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3607759"/>
            <a:ext cx="15927553" cy="594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Dataset: Dunnhumby – Breakfast at the Frat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524,950 transaction records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156 weekly periods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 main data sources:</a:t>
            </a:r>
          </a:p>
          <a:p>
            <a:pPr algn="l">
              <a:lnSpc>
                <a:spcPts val="3919"/>
              </a:lnSpc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Transaction Data, Products Lookup, Store Lookup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Product and store information were joined with transaction data.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quality checks were performed for: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Missing values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Duplicate records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Invalid prices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Product/store mappings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Final forecasting level: Product × Store × Week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4731306" y="-11568"/>
            <a:ext cx="3484596" cy="4460283"/>
            <a:chOff x="0" y="0"/>
            <a:chExt cx="6350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solidFill>
              <a:srgbClr val="FF534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52400"/>
              <a:ext cx="6350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904875"/>
            <a:ext cx="6923762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Dataset &amp; Data Preparation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653205" y="8745855"/>
            <a:ext cx="606095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679065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904875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EDA &amp; Data Quality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53205" y="8745855"/>
            <a:ext cx="606095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236613" y="3627713"/>
            <a:ext cx="9017495" cy="5499426"/>
            <a:chOff x="0" y="0"/>
            <a:chExt cx="2374978" cy="14484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74978" cy="1448409"/>
            </a:xfrm>
            <a:custGeom>
              <a:avLst/>
              <a:gdLst/>
              <a:ahLst/>
              <a:cxnLst/>
              <a:rect l="l" t="t" r="r" b="b"/>
              <a:pathLst>
                <a:path w="2374978" h="1448409">
                  <a:moveTo>
                    <a:pt x="8585" y="0"/>
                  </a:moveTo>
                  <a:lnTo>
                    <a:pt x="2366393" y="0"/>
                  </a:lnTo>
                  <a:cubicBezTo>
                    <a:pt x="2371134" y="0"/>
                    <a:pt x="2374978" y="3844"/>
                    <a:pt x="2374978" y="8585"/>
                  </a:cubicBezTo>
                  <a:lnTo>
                    <a:pt x="2374978" y="1439823"/>
                  </a:lnTo>
                  <a:cubicBezTo>
                    <a:pt x="2374978" y="1442100"/>
                    <a:pt x="2374074" y="1444284"/>
                    <a:pt x="2372464" y="1445894"/>
                  </a:cubicBezTo>
                  <a:cubicBezTo>
                    <a:pt x="2370853" y="1447504"/>
                    <a:pt x="2368670" y="1448409"/>
                    <a:pt x="2366393" y="1448409"/>
                  </a:cubicBezTo>
                  <a:lnTo>
                    <a:pt x="8585" y="1448409"/>
                  </a:lnTo>
                  <a:cubicBezTo>
                    <a:pt x="3844" y="1448409"/>
                    <a:pt x="0" y="1444565"/>
                    <a:pt x="0" y="1439823"/>
                  </a:cubicBezTo>
                  <a:lnTo>
                    <a:pt x="0" y="8585"/>
                  </a:lnTo>
                  <a:cubicBezTo>
                    <a:pt x="0" y="3844"/>
                    <a:pt x="3844" y="0"/>
                    <a:pt x="8585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52400"/>
              <a:ext cx="2374978" cy="1600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10254" y="3117336"/>
            <a:ext cx="6923762" cy="6443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Checked missing values in important variables.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Identified zero-sales and zero-price observations.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Checked for duplicate transaction records.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Verified product and store mappings.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Analyzed product-store coverage across 156 weeks.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Identified variations in sales across products and stores.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Final dataset contained 3,909 product-store combinations.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19637" y="409575"/>
            <a:ext cx="6923762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Methodology &amp; Feature Engineering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319637" y="2782948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9144000" y="3117336"/>
            <a:ext cx="8048176" cy="693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Created product-store-week forecasting dataset.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Used time-based train-test split.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Training period: 143 weeks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Testing period: 13 weeks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Created historical demand features: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Lag 1, 2, 3, 4 &amp; 8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4-week &amp; 8-week rolling averages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Added price and discount features.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Added promotion features: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Feature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Display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TPR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Added product, store and calendar features.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2807407"/>
            <a:ext cx="12073633" cy="642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Naive Forecast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the previous week's sales as the forecast.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as the baseline model.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Random Forest Regression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historical sales, price, promotion, product, and store features.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200 trees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Maximum depth: 12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Minimum samples per leaf: 2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Time-Based Validation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Training: 143 weeks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Holdout: 13 weeks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Evaluation based on MAE, RMSE and MAPE.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5228614" y="0"/>
            <a:ext cx="3059386" cy="3916014"/>
            <a:chOff x="0" y="0"/>
            <a:chExt cx="6350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solidFill>
              <a:srgbClr val="FF534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52400"/>
              <a:ext cx="6350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904875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Forecasting Models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653205" y="8745855"/>
            <a:ext cx="606095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93127" y="258244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028700" y="3287827"/>
            <a:ext cx="12760713" cy="2504804"/>
          </a:xfrm>
          <a:custGeom>
            <a:avLst/>
            <a:gdLst/>
            <a:ahLst/>
            <a:cxnLst/>
            <a:rect l="l" t="t" r="r" b="b"/>
            <a:pathLst>
              <a:path w="12760713" h="2504804">
                <a:moveTo>
                  <a:pt x="0" y="0"/>
                </a:moveTo>
                <a:lnTo>
                  <a:pt x="12760713" y="0"/>
                </a:lnTo>
                <a:lnTo>
                  <a:pt x="12760713" y="2504804"/>
                </a:lnTo>
                <a:lnTo>
                  <a:pt x="0" y="2504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1736" b="-4748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93127" y="1274259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 Performance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93127" y="6416675"/>
            <a:ext cx="9948605" cy="248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Key Result</a:t>
            </a:r>
          </a:p>
          <a:p>
            <a:pPr algn="l">
              <a:lnSpc>
                <a:spcPts val="3919"/>
              </a:lnSpc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Random Forest outperformed the Naive Forecast.</a:t>
            </a:r>
          </a:p>
          <a:p>
            <a:pPr algn="l">
              <a:lnSpc>
                <a:spcPts val="3919"/>
              </a:lnSpc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MAE improved by 33.6%</a:t>
            </a:r>
          </a:p>
          <a:p>
            <a:pPr algn="l">
              <a:lnSpc>
                <a:spcPts val="3919"/>
              </a:lnSpc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RMSE improved by 47.1%</a:t>
            </a:r>
          </a:p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MAPE improved by 17.9%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653205" y="8745855"/>
            <a:ext cx="606095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510504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1538172"/>
            <a:ext cx="880209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b="1" spc="72">
                <a:solidFill>
                  <a:srgbClr val="231F20"/>
                </a:solidFill>
                <a:latin typeface="PT Serif Bold"/>
                <a:ea typeface="PT Serif Bold"/>
                <a:cs typeface="PT Serif Bold"/>
                <a:sym typeface="PT Serif Bold"/>
              </a:rPr>
              <a:t>Price Scenario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53205" y="8745855"/>
            <a:ext cx="606095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192711"/>
            <a:ext cx="13591084" cy="358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10% price reduction scenario was tested.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Baseline predicted demand: 23.14 units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Predicted demand after price reduction: 26.45 units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Demand increase: 3.31 units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Estimated demand increase: 13.75%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scenario shows how the model can support pricing decisions.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02307" y="2597370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65503" y="904875"/>
            <a:ext cx="1277379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Key Findings &amp; Recommendations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53205" y="8745855"/>
            <a:ext cx="606095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2307" y="3309620"/>
            <a:ext cx="12700186" cy="594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Key Findings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Random Forest performed better than the Naive Forecast.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Recent sales history was the strongest demand predictor.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Price and promotion information improved forecasting accuracy.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10% price reduction resulted in 13.75% higher predicted demand.</a:t>
            </a:r>
          </a:p>
          <a:p>
            <a:pPr algn="l">
              <a:lnSpc>
                <a:spcPts val="3919"/>
              </a:lnSpc>
            </a:pPr>
            <a:endParaRPr lang="en-US" sz="2799" spc="5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3919"/>
              </a:lnSpc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Recommendations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 recent sales trends for inventory planning.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Include promotions in demand forecasting.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 scenario analysis to support pricing decisions.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Forecast at product-store level for better planning.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spc="5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3321334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1978180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53205" y="8745855"/>
            <a:ext cx="606095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985967"/>
            <a:ext cx="14229021" cy="347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Developed a product-store level retail sales forecasting system.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Used historical sales, price, promotion, product, and store information.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Random Forest achieved better performance than the Naive Forecast.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model improved demand prediction for the 13-week holdout period.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Price scenario analysis showed potential demand improvement under a 10% price reduction.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project can support inventory planning, pricing, and promotional decisions.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06461" y="6337647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flipH="1" flipV="1">
            <a:off x="0" y="0"/>
            <a:ext cx="6614109" cy="10287000"/>
          </a:xfrm>
          <a:custGeom>
            <a:avLst/>
            <a:gdLst/>
            <a:ahLst/>
            <a:cxnLst/>
            <a:rect l="l" t="t" r="r" b="b"/>
            <a:pathLst>
              <a:path w="6614109" h="10287000">
                <a:moveTo>
                  <a:pt x="6614109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614109" y="0"/>
                </a:lnTo>
                <a:lnTo>
                  <a:pt x="6614109" y="10287000"/>
                </a:lnTo>
                <a:close/>
              </a:path>
            </a:pathLst>
          </a:custGeom>
          <a:blipFill>
            <a:blip r:embed="rId2"/>
            <a:stretch>
              <a:fillRect t="-14295" r="-99999" b="-14295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144000" y="2541980"/>
            <a:ext cx="7539970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0"/>
              </a:lnSpc>
            </a:pPr>
            <a:r>
              <a:rPr lang="en-US" sz="12000" b="1" spc="-48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Thank you!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346748" y="7058903"/>
            <a:ext cx="4337222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KRISHNA P</a:t>
            </a:r>
          </a:p>
          <a:p>
            <a:pPr algn="r">
              <a:lnSpc>
                <a:spcPts val="4480"/>
              </a:lnSpc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RA2311042010017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664</Words>
  <Application>Microsoft Office PowerPoint</Application>
  <PresentationFormat>Custom</PresentationFormat>
  <Paragraphs>113</Paragraphs>
  <Slides>11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PT Serif</vt:lpstr>
      <vt:lpstr>PT Serif Bold</vt:lpstr>
      <vt:lpstr>Calibri</vt:lpstr>
      <vt:lpstr>Roboto</vt:lpstr>
      <vt:lpstr>Canva Sans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FORECASTING AND PROMOTION EFFECTIVENESS</dc:title>
  <cp:lastModifiedBy>krishna</cp:lastModifiedBy>
  <cp:revision>3</cp:revision>
  <dcterms:created xsi:type="dcterms:W3CDTF">2006-08-16T00:00:00Z</dcterms:created>
  <dcterms:modified xsi:type="dcterms:W3CDTF">2026-10-07T10:19:54Z</dcterms:modified>
  <dc:identifier>DAHXQS5LE9A</dc:identifier>
</cp:coreProperties>
</file>